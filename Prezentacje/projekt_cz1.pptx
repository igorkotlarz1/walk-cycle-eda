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83" r:id="rId5"/>
    <p:sldId id="259" r:id="rId6"/>
    <p:sldId id="270" r:id="rId7"/>
    <p:sldId id="274" r:id="rId8"/>
    <p:sldId id="279" r:id="rId9"/>
    <p:sldId id="280" r:id="rId10"/>
    <p:sldId id="282" r:id="rId11"/>
    <p:sldId id="281" r:id="rId12"/>
    <p:sldId id="265" r:id="rId13"/>
    <p:sldId id="262" r:id="rId14"/>
    <p:sldId id="271" r:id="rId15"/>
    <p:sldId id="263" r:id="rId16"/>
    <p:sldId id="275" r:id="rId17"/>
    <p:sldId id="264" r:id="rId18"/>
    <p:sldId id="276" r:id="rId19"/>
    <p:sldId id="268" r:id="rId20"/>
    <p:sldId id="278" r:id="rId21"/>
    <p:sldId id="269" r:id="rId22"/>
    <p:sldId id="277" r:id="rId23"/>
    <p:sldId id="272" r:id="rId24"/>
    <p:sldId id="273" r:id="rId25"/>
    <p:sldId id="260" r:id="rId26"/>
  </p:sldIdLst>
  <p:sldSz cx="12192000" cy="6858000"/>
  <p:notesSz cx="6858000" cy="9144000"/>
  <p:defaultTextStyle>
    <a:defPPr>
      <a:defRPr lang="pl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14F8629-D51F-3543-76EA-7957E65EB984}" v="1177" dt="2025-04-14T11:56:49.827"/>
    <p1510:client id="{3C472939-FC7C-7291-9FAC-14A1F7EB3FBE}" v="935" dt="2025-04-14T11:10:39.596"/>
    <p1510:client id="{4420CC5D-7833-4DB5-BD26-480DF1E097AA}" v="927" dt="2025-04-14T11:28:15.558"/>
    <p1510:client id="{69511263-36A1-49EA-9404-6E802B6D0465}" v="671" dt="2025-04-14T19:33:45.451"/>
    <p1510:client id="{EE46DF26-0F0A-3C2A-D997-CEDC9D06CCCE}" v="23" dt="2025-04-14T15:24:26.21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 pośredni 2 — Ak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959" autoAdjust="0"/>
    <p:restoredTop sz="94660"/>
  </p:normalViewPr>
  <p:slideViewPr>
    <p:cSldViewPr snapToGrid="0">
      <p:cViewPr varScale="1">
        <p:scale>
          <a:sx n="95" d="100"/>
          <a:sy n="95" d="100"/>
        </p:scale>
        <p:origin x="114" y="4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Podtytuł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l-PL"/>
              <a:t>Kliknij, aby edytować styl wzorca podtytułu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AA868-8872-43E4-8C98-D34DABD1FD38}" type="datetimeFigureOut">
              <a:rPr lang="pl-PL" smtClean="0"/>
              <a:t>14.04.2025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C6C3F-668B-4AF5-BFA9-0F657EB068D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3917574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AA868-8872-43E4-8C98-D34DABD1FD38}" type="datetimeFigureOut">
              <a:rPr lang="pl-PL" smtClean="0"/>
              <a:t>14.04.2025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C6C3F-668B-4AF5-BFA9-0F657EB068D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9673800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AA868-8872-43E4-8C98-D34DABD1FD38}" type="datetimeFigureOut">
              <a:rPr lang="pl-PL" smtClean="0"/>
              <a:t>14.04.2025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C6C3F-668B-4AF5-BFA9-0F657EB068D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32341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zawartości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daty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AA868-8872-43E4-8C98-D34DABD1FD38}" type="datetimeFigureOut">
              <a:rPr lang="pl-PL" smtClean="0"/>
              <a:t>14.04.2025</a:t>
            </a:fld>
            <a:endParaRPr lang="pl-PL"/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C6C3F-668B-4AF5-BFA9-0F657EB068D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8830362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zawartości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tekstu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Symbol zastępczy zawartości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7" name="Symbol zastępczy daty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AA868-8872-43E4-8C98-D34DABD1FD38}" type="datetimeFigureOut">
              <a:rPr lang="pl-PL" smtClean="0"/>
              <a:t>14.04.2025</a:t>
            </a:fld>
            <a:endParaRPr lang="pl-PL"/>
          </a:p>
        </p:txBody>
      </p:sp>
      <p:sp>
        <p:nvSpPr>
          <p:cNvPr id="8" name="Symbol zastępczy stopki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9" name="Symbol zastępczy numeru slajd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C6C3F-668B-4AF5-BFA9-0F657EB068D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9618082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daty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AA868-8872-43E4-8C98-D34DABD1FD38}" type="datetimeFigureOut">
              <a:rPr lang="pl-PL" smtClean="0"/>
              <a:t>14.04.2025</a:t>
            </a:fld>
            <a:endParaRPr lang="pl-PL"/>
          </a:p>
        </p:txBody>
      </p:sp>
      <p:sp>
        <p:nvSpPr>
          <p:cNvPr id="4" name="Symbol zastępczy stopki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ymbol zastępczy numeru slajd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C6C3F-668B-4AF5-BFA9-0F657EB068D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5447972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daty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AA868-8872-43E4-8C98-D34DABD1FD38}" type="datetimeFigureOut">
              <a:rPr lang="pl-PL" smtClean="0"/>
              <a:t>14.04.2025</a:t>
            </a:fld>
            <a:endParaRPr lang="pl-PL"/>
          </a:p>
        </p:txBody>
      </p:sp>
      <p:sp>
        <p:nvSpPr>
          <p:cNvPr id="3" name="Symbol zastępczy stopki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C6C3F-668B-4AF5-BFA9-0F657EB068D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8508391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tekstu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AA868-8872-43E4-8C98-D34DABD1FD38}" type="datetimeFigureOut">
              <a:rPr lang="pl-PL" smtClean="0"/>
              <a:t>14.04.2025</a:t>
            </a:fld>
            <a:endParaRPr lang="pl-PL"/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C6C3F-668B-4AF5-BFA9-0F657EB068D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7155304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obrazu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l-PL"/>
          </a:p>
        </p:txBody>
      </p:sp>
      <p:sp>
        <p:nvSpPr>
          <p:cNvPr id="4" name="Symbol zastępczy tekstu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AA868-8872-43E4-8C98-D34DABD1FD38}" type="datetimeFigureOut">
              <a:rPr lang="pl-PL" smtClean="0"/>
              <a:t>14.04.2025</a:t>
            </a:fld>
            <a:endParaRPr lang="pl-PL"/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C6C3F-668B-4AF5-BFA9-0F657EB068D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0249060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AA868-8872-43E4-8C98-D34DABD1FD38}" type="datetimeFigureOut">
              <a:rPr lang="pl-PL" smtClean="0"/>
              <a:t>14.04.2025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C6C3F-668B-4AF5-BFA9-0F657EB068D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4545081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pionowy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AA868-8872-43E4-8C98-D34DABD1FD38}" type="datetimeFigureOut">
              <a:rPr lang="pl-PL" smtClean="0"/>
              <a:t>14.04.2025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C6C3F-668B-4AF5-BFA9-0F657EB068D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3403866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ytułu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8AA868-8872-43E4-8C98-D34DABD1FD38}" type="datetimeFigureOut">
              <a:rPr lang="pl-PL" smtClean="0"/>
              <a:t>14.04.2025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7C6C3F-668B-4AF5-BFA9-0F657EB068D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9266336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l-P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pogotowiestatystyczne.pl/slowniki/test-shapiro-wilka/" TargetMode="External"/><Relationship Id="rId2" Type="http://schemas.openxmlformats.org/officeDocument/2006/relationships/hyperlink" Target="https://mozgaktywacja.pl/trening-mozgu/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pogotowiestatystyczne.pl/slowniki/test-levenea/" TargetMode="External"/><Relationship Id="rId4" Type="http://schemas.openxmlformats.org/officeDocument/2006/relationships/hyperlink" Target="https://pogotowiestatystyczne.pl/slowniki/test-kolmogorowa-smirnowa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l-PL" dirty="0"/>
              <a:t>ZAJĘCIA PROJEKTOWE  Z METOD STATYSTYCZNYCH</a:t>
            </a:r>
          </a:p>
        </p:txBody>
      </p:sp>
      <p:sp>
        <p:nvSpPr>
          <p:cNvPr id="3" name="Podtytuł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94022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l-PL" dirty="0"/>
              <a:t>Spotkanie 1</a:t>
            </a:r>
          </a:p>
          <a:p>
            <a:r>
              <a:rPr lang="pl-PL" dirty="0"/>
              <a:t>INF </a:t>
            </a:r>
            <a:r>
              <a:rPr lang="pl-PL" dirty="0" err="1"/>
              <a:t>sem</a:t>
            </a:r>
            <a:r>
              <a:rPr lang="pl-PL" dirty="0"/>
              <a:t> 4, gr. 2, sekcja 3, podsekcja A</a:t>
            </a:r>
          </a:p>
        </p:txBody>
      </p:sp>
      <p:sp>
        <p:nvSpPr>
          <p:cNvPr id="4" name="pole tekstowe 3">
            <a:extLst>
              <a:ext uri="{FF2B5EF4-FFF2-40B4-BE49-F238E27FC236}">
                <a16:creationId xmlns:a16="http://schemas.microsoft.com/office/drawing/2014/main" id="{FA36E80F-3EE5-3E4C-1EC5-BBF77AB6537B}"/>
              </a:ext>
            </a:extLst>
          </p:cNvPr>
          <p:cNvSpPr txBox="1"/>
          <p:nvPr/>
        </p:nvSpPr>
        <p:spPr>
          <a:xfrm>
            <a:off x="7977251" y="4305610"/>
            <a:ext cx="3884083" cy="221599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l-PL" sz="2400" dirty="0"/>
              <a:t>Igor Kotlarz </a:t>
            </a:r>
            <a:endParaRPr lang="pl-PL" dirty="0"/>
          </a:p>
          <a:p>
            <a:pPr algn="ctr"/>
            <a:r>
              <a:rPr lang="pl-PL" sz="2400" err="1"/>
              <a:t>Yevheniia</a:t>
            </a:r>
            <a:r>
              <a:rPr lang="pl-PL" sz="2400" dirty="0"/>
              <a:t> </a:t>
            </a:r>
            <a:r>
              <a:rPr lang="pl-PL" sz="2400" err="1"/>
              <a:t>Muravska</a:t>
            </a:r>
            <a:r>
              <a:rPr lang="pl-PL" sz="2400" dirty="0"/>
              <a:t> </a:t>
            </a:r>
            <a:endParaRPr lang="pl-PL" dirty="0"/>
          </a:p>
          <a:p>
            <a:pPr algn="ctr"/>
            <a:r>
              <a:rPr lang="pl-PL" sz="2400" dirty="0"/>
              <a:t>Kamil Musioł </a:t>
            </a:r>
            <a:endParaRPr lang="pl-PL" dirty="0"/>
          </a:p>
          <a:p>
            <a:pPr algn="ctr"/>
            <a:r>
              <a:rPr lang="pl-PL" sz="2400" dirty="0"/>
              <a:t>Karol Pethe </a:t>
            </a:r>
            <a:endParaRPr lang="pl-PL" dirty="0"/>
          </a:p>
          <a:p>
            <a:pPr algn="ctr"/>
            <a:r>
              <a:rPr lang="pl-PL" sz="2400" dirty="0"/>
              <a:t>Łukasz Wolf</a:t>
            </a:r>
            <a:endParaRPr lang="pl-PL" dirty="0"/>
          </a:p>
          <a:p>
            <a:pPr algn="l"/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6503171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A5BA20B-E75F-C3FE-9E26-703A9B018A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Agenda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CC75F6CB-CD3C-B10D-C768-467A40B856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pl-PL" dirty="0"/>
              <a:t>Przedstawienie tematu</a:t>
            </a:r>
          </a:p>
          <a:p>
            <a:r>
              <a:rPr lang="pl-PL" dirty="0"/>
              <a:t>Zaprezentowanie pierwszych postępów i efektów pracy: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pl-PL" dirty="0"/>
              <a:t>Agregacja danych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pl-PL" dirty="0"/>
              <a:t>Wizualizacja</a:t>
            </a:r>
          </a:p>
          <a:p>
            <a:r>
              <a:rPr lang="pl-PL" dirty="0"/>
              <a:t>Plan działania, część teoretyczna – krótki wywód na temat wybranego przez nas testu normalności, dalsze kroki postępowania</a:t>
            </a:r>
            <a:endParaRPr lang="en-US" dirty="0"/>
          </a:p>
          <a:p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17766628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19F8196-4D55-2DC6-60DD-560D6A38AA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Temat naszego projektu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3A1B465E-5F10-CC1C-3AFD-0D406C0FE7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pl-PL" dirty="0">
                <a:ea typeface="+mn-lt"/>
                <a:cs typeface="+mn-lt"/>
              </a:rPr>
              <a:t>2 grupy: badana (spektrum autyzmu) i kontrolna; 3 scenariusze pojedynczego eksperymentu: przejście przez las, most linowy, test Stroopa.</a:t>
            </a:r>
          </a:p>
          <a:p>
            <a:r>
              <a:rPr lang="pl-PL" dirty="0"/>
              <a:t>Przykładowa plansza testu Stroopa:</a:t>
            </a:r>
          </a:p>
          <a:p>
            <a:endParaRPr lang="pl-PL" dirty="0"/>
          </a:p>
          <a:p>
            <a:endParaRPr lang="pl-PL" dirty="0"/>
          </a:p>
          <a:p>
            <a:endParaRPr lang="pl-PL" dirty="0"/>
          </a:p>
          <a:p>
            <a:endParaRPr lang="pl-PL" dirty="0"/>
          </a:p>
          <a:p>
            <a:pPr marL="0" indent="0" algn="ctr">
              <a:buNone/>
            </a:pPr>
            <a:r>
              <a:rPr lang="pl-PL" sz="1050" dirty="0"/>
              <a:t>Rys. 1:  Test Stroopa</a:t>
            </a:r>
          </a:p>
        </p:txBody>
      </p:sp>
      <p:pic>
        <p:nvPicPr>
          <p:cNvPr id="4" name="Obraz 3" descr="Trening mózgu, czyli ćwiczenia na koncentrację | dr Alicja Czyrska">
            <a:extLst>
              <a:ext uri="{FF2B5EF4-FFF2-40B4-BE49-F238E27FC236}">
                <a16:creationId xmlns:a16="http://schemas.microsoft.com/office/drawing/2014/main" id="{238E0055-B482-8F70-0B22-FDB8EB81897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750" b="53846"/>
          <a:stretch/>
        </p:blipFill>
        <p:spPr>
          <a:xfrm>
            <a:off x="3451303" y="4004258"/>
            <a:ext cx="5289362" cy="1613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49765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65542CE7-41E1-9804-D39A-2944A2DDBC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Przygotowanie danych do agregacji</a:t>
            </a:r>
          </a:p>
        </p:txBody>
      </p:sp>
      <p:pic>
        <p:nvPicPr>
          <p:cNvPr id="19" name="Symbol zastępczy zawartości 18">
            <a:extLst>
              <a:ext uri="{FF2B5EF4-FFF2-40B4-BE49-F238E27FC236}">
                <a16:creationId xmlns:a16="http://schemas.microsoft.com/office/drawing/2014/main" id="{967DA920-BC25-7C8D-C4B0-7B24AAA681F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34256" y="1633861"/>
            <a:ext cx="11123488" cy="4734866"/>
          </a:xfrm>
        </p:spPr>
      </p:pic>
    </p:spTree>
    <p:extLst>
      <p:ext uri="{BB962C8B-B14F-4D97-AF65-F5344CB8AC3E}">
        <p14:creationId xmlns:p14="http://schemas.microsoft.com/office/powerpoint/2010/main" val="7868513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996E012E-0297-2B58-9A80-9F64F25B5A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Agregacja danych – średnie wartości parametrów w zależności od rodzaju testu</a:t>
            </a:r>
          </a:p>
        </p:txBody>
      </p:sp>
      <p:pic>
        <p:nvPicPr>
          <p:cNvPr id="9" name="Symbol zastępczy zawartości 8" descr="Obraz zawierający tekst, diagram, zrzut ekranu, Wielobarwność">
            <a:extLst>
              <a:ext uri="{FF2B5EF4-FFF2-40B4-BE49-F238E27FC236}">
                <a16:creationId xmlns:a16="http://schemas.microsoft.com/office/drawing/2014/main" id="{F28A881A-F7E5-5D96-7E67-A00CD7C698B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6333" y="1548981"/>
            <a:ext cx="8719334" cy="4904626"/>
          </a:xfrm>
        </p:spPr>
      </p:pic>
    </p:spTree>
    <p:extLst>
      <p:ext uri="{BB962C8B-B14F-4D97-AF65-F5344CB8AC3E}">
        <p14:creationId xmlns:p14="http://schemas.microsoft.com/office/powerpoint/2010/main" val="26057426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124A8C-2947-C82E-494C-A4880EA299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7B15044-7B60-B990-48B6-60B62CBBB5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l-PL" dirty="0"/>
              <a:t>Agregacja danych – odchylenia stand. od wartości średniej parametrów w zależności od rodzaju testu</a:t>
            </a:r>
          </a:p>
        </p:txBody>
      </p:sp>
      <p:pic>
        <p:nvPicPr>
          <p:cNvPr id="11" name="Symbol zastępczy zawartości 10" descr="Obraz zawierający tekst, diagram, zrzut ekranu, Wielobarwność&#10;&#10;Zawartość wygenerowana przez sztuczną inteligencję może być niepoprawna.">
            <a:extLst>
              <a:ext uri="{FF2B5EF4-FFF2-40B4-BE49-F238E27FC236}">
                <a16:creationId xmlns:a16="http://schemas.microsoft.com/office/drawing/2014/main" id="{D955DA2D-1EF6-4E4D-F8C0-668983C713C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6522" y="1509713"/>
            <a:ext cx="8858956" cy="4983162"/>
          </a:xfrm>
        </p:spPr>
      </p:pic>
    </p:spTree>
    <p:extLst>
      <p:ext uri="{BB962C8B-B14F-4D97-AF65-F5344CB8AC3E}">
        <p14:creationId xmlns:p14="http://schemas.microsoft.com/office/powerpoint/2010/main" val="32600477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2902C91-3881-3452-2741-B80A68D295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Eksploracja danych przy pomocy box-plotów</a:t>
            </a:r>
            <a:endParaRPr lang="pl-PL" dirty="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059391DC-973C-190E-792F-55AB5B5CDB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pl-PL"/>
              <a:t>Wykresy pudełkowe posłużą nam jako przydatne narzędzie do szybkiej weryfikacji, czy w rozkładzie danej cechy pojawiają się tzw. outlierzy.</a:t>
            </a:r>
          </a:p>
          <a:p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13699198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62DC9E-2300-2754-1C00-FBF1AD92E8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32DC745C-6F95-97BE-34CE-E59F888467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Box-ploty czasu trwania cykli kroku oraz wykroku </a:t>
            </a:r>
          </a:p>
        </p:txBody>
      </p:sp>
      <p:pic>
        <p:nvPicPr>
          <p:cNvPr id="5" name="Symbol zastępczy zawartości 4" descr="Obraz zawierający diagram, tekst, linia, Plan&#10;&#10;Zawartość wygenerowana przez sztuczną inteligencję może być niepoprawna.">
            <a:extLst>
              <a:ext uri="{FF2B5EF4-FFF2-40B4-BE49-F238E27FC236}">
                <a16:creationId xmlns:a16="http://schemas.microsoft.com/office/drawing/2014/main" id="{2917CA91-AB61-F96C-878F-D9FBDA98637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2496" y="981188"/>
            <a:ext cx="8521304" cy="5680870"/>
          </a:xfrm>
        </p:spPr>
      </p:pic>
    </p:spTree>
    <p:extLst>
      <p:ext uri="{BB962C8B-B14F-4D97-AF65-F5344CB8AC3E}">
        <p14:creationId xmlns:p14="http://schemas.microsoft.com/office/powerpoint/2010/main" val="12826064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4EC445-5982-9FA7-9644-0E53A0538B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9C75DDE1-77D0-8F7C-0549-357452C1EB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Box-ploty czasu trwania faz podparcia oraz przeniesienia</a:t>
            </a:r>
          </a:p>
        </p:txBody>
      </p:sp>
      <p:pic>
        <p:nvPicPr>
          <p:cNvPr id="7" name="Symbol zastępczy zawartości 6" descr="Obraz zawierający diagram, zrzut ekranu, linia, tekst&#10;&#10;Zawartość wygenerowana przez sztuczną inteligencję może być niepoprawna.">
            <a:extLst>
              <a:ext uri="{FF2B5EF4-FFF2-40B4-BE49-F238E27FC236}">
                <a16:creationId xmlns:a16="http://schemas.microsoft.com/office/drawing/2014/main" id="{B495A62B-8DBB-9D4D-4947-7E02EC3B29C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4728" y="1218942"/>
            <a:ext cx="7941925" cy="5294617"/>
          </a:xfrm>
        </p:spPr>
      </p:pic>
    </p:spTree>
    <p:extLst>
      <p:ext uri="{BB962C8B-B14F-4D97-AF65-F5344CB8AC3E}">
        <p14:creationId xmlns:p14="http://schemas.microsoft.com/office/powerpoint/2010/main" val="36150843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6C44E9-8E88-8FBA-FBA4-936853B47E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1B6CC52-5630-9658-F104-E7AD76B933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Box-ploty czasu trwania fazy pojedynczego oraz podwójnego podparcia </a:t>
            </a:r>
          </a:p>
        </p:txBody>
      </p:sp>
      <p:pic>
        <p:nvPicPr>
          <p:cNvPr id="7" name="Symbol zastępczy zawartości 6" descr="Obraz zawierający diagram, tekst, zrzut ekranu, linia&#10;&#10;Zawartość wygenerowana przez sztuczną inteligencję może być niepoprawna.">
            <a:extLst>
              <a:ext uri="{FF2B5EF4-FFF2-40B4-BE49-F238E27FC236}">
                <a16:creationId xmlns:a16="http://schemas.microsoft.com/office/drawing/2014/main" id="{271CFBA3-FDD4-D852-4214-AF5F253D1E6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7194" y="1668756"/>
            <a:ext cx="7471480" cy="4980988"/>
          </a:xfrm>
        </p:spPr>
      </p:pic>
    </p:spTree>
    <p:extLst>
      <p:ext uri="{BB962C8B-B14F-4D97-AF65-F5344CB8AC3E}">
        <p14:creationId xmlns:p14="http://schemas.microsoft.com/office/powerpoint/2010/main" val="3697463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36605-A380-60FB-65B0-F0BF676689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BE42A90-05AE-2040-FE3A-DB9914E034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Box-ploty tempa kroku</a:t>
            </a:r>
          </a:p>
        </p:txBody>
      </p:sp>
      <p:pic>
        <p:nvPicPr>
          <p:cNvPr id="7" name="Symbol zastępczy zawartości 6" descr="Obraz zawierający tekst, zrzut ekranu, diagram, linia&#10;&#10;Zawartość wygenerowana przez sztuczną inteligencję może być niepoprawna.">
            <a:extLst>
              <a:ext uri="{FF2B5EF4-FFF2-40B4-BE49-F238E27FC236}">
                <a16:creationId xmlns:a16="http://schemas.microsoft.com/office/drawing/2014/main" id="{4A48FA96-87E5-7065-AF46-5985059F986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6265" y="1345996"/>
            <a:ext cx="7412683" cy="4941787"/>
          </a:xfrm>
        </p:spPr>
      </p:pic>
    </p:spTree>
    <p:extLst>
      <p:ext uri="{BB962C8B-B14F-4D97-AF65-F5344CB8AC3E}">
        <p14:creationId xmlns:p14="http://schemas.microsoft.com/office/powerpoint/2010/main" val="33224764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BA6185E5-094A-3C0C-CF94-8AA3329DF8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Czy próby są zależne?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EDDD8A7F-4C05-88E6-9B88-4FADB7B5E7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pl-PL"/>
              <a:t>Nie. Dane, na których operujemy pochodzą od dwóch różnych grup - próbę badaną stanowią osoby z diagnozą spektrum autyzmu, zaś kontrolną osoby zdrowe. Próby są niezależne.</a:t>
            </a:r>
          </a:p>
        </p:txBody>
      </p:sp>
    </p:spTree>
    <p:extLst>
      <p:ext uri="{BB962C8B-B14F-4D97-AF65-F5344CB8AC3E}">
        <p14:creationId xmlns:p14="http://schemas.microsoft.com/office/powerpoint/2010/main" val="31316803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6A87583-C56C-61C3-D5AF-38485096ED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Test normalności - </a:t>
            </a:r>
            <a:r>
              <a:rPr lang="pl-PL" err="1"/>
              <a:t>Shapiro</a:t>
            </a:r>
            <a:r>
              <a:rPr lang="pl-PL"/>
              <a:t>-Wilka [2]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A7E23243-E797-162C-92AA-34E4D409DA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pl-PL"/>
              <a:t>Służy do oceny czy zebrane dane mają rozkład zbliżony do rozkładu normalnego</a:t>
            </a:r>
          </a:p>
          <a:p>
            <a:r>
              <a:rPr lang="pl-PL"/>
              <a:t>Hipoteza zerowa – nasza próba badawcza pochodzi z populacji o rozkładzie normalnym</a:t>
            </a:r>
          </a:p>
          <a:p>
            <a:r>
              <a:rPr lang="pl-PL"/>
              <a:t>Jeżeli test osiąga istotność statystyczną (p &lt; 0.05), to rozkład odbiega od krzywej Gaussa</a:t>
            </a:r>
          </a:p>
          <a:p>
            <a:r>
              <a:rPr lang="pl-PL"/>
              <a:t>W przeciwnym wypadku – p &gt; 0.05, zatem jest to rozkład normalny</a:t>
            </a:r>
          </a:p>
          <a:p>
            <a:r>
              <a:rPr lang="pl-PL"/>
              <a:t>Dlaczego ten test a nie </a:t>
            </a:r>
            <a:r>
              <a:rPr lang="en-GB" err="1"/>
              <a:t>Kołmogorowa-Smirnowa</a:t>
            </a:r>
            <a:r>
              <a:rPr lang="pl-PL"/>
              <a:t>? Ma większą moc do prób o wielkości rzędu 2000 (w praktyce rzadko operujemy na większej ilości prób, zatem powinno się odrzucić stosowanie </a:t>
            </a:r>
            <a:r>
              <a:rPr lang="en-GB" err="1"/>
              <a:t>Kołmogorowa-Smirnowa</a:t>
            </a:r>
            <a:r>
              <a:rPr lang="pl-PL"/>
              <a:t>)  </a:t>
            </a:r>
          </a:p>
        </p:txBody>
      </p:sp>
    </p:spTree>
    <p:extLst>
      <p:ext uri="{BB962C8B-B14F-4D97-AF65-F5344CB8AC3E}">
        <p14:creationId xmlns:p14="http://schemas.microsoft.com/office/powerpoint/2010/main" val="39021946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9936DD26-DF1A-EC5B-25F9-1805537604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Wizualny test normalności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70848432-A22E-573A-ABE8-26507C3EE7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pl-PL"/>
              <a:t>Histogramy oraz q-q ploty dla poszczególnych cech na kolejnych slajdach</a:t>
            </a:r>
          </a:p>
        </p:txBody>
      </p:sp>
    </p:spTree>
    <p:extLst>
      <p:ext uri="{BB962C8B-B14F-4D97-AF65-F5344CB8AC3E}">
        <p14:creationId xmlns:p14="http://schemas.microsoft.com/office/powerpoint/2010/main" val="13682926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F39EFF-9FF3-C9C9-8893-D36B031B16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7A60F09-B798-5575-B44C-D5B91EA60D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Histogramy czasu trwania cykli kroku oraz wykroku [s]</a:t>
            </a:r>
          </a:p>
        </p:txBody>
      </p:sp>
      <p:pic>
        <p:nvPicPr>
          <p:cNvPr id="13" name="Symbol zastępczy zawartości 12" descr="Obraz zawierający tekst, diagram, Wykres, zrzut ekranu&#10;&#10;Zawartość wygenerowana przez sztuczną inteligencję może być niepoprawna.">
            <a:extLst>
              <a:ext uri="{FF2B5EF4-FFF2-40B4-BE49-F238E27FC236}">
                <a16:creationId xmlns:a16="http://schemas.microsoft.com/office/drawing/2014/main" id="{1434304B-90AC-2910-A127-DE15A3FDEC6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8144" y="1825625"/>
            <a:ext cx="7735711" cy="4351338"/>
          </a:xfrm>
        </p:spPr>
      </p:pic>
    </p:spTree>
    <p:extLst>
      <p:ext uri="{BB962C8B-B14F-4D97-AF65-F5344CB8AC3E}">
        <p14:creationId xmlns:p14="http://schemas.microsoft.com/office/powerpoint/2010/main" val="21851513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104717-0CA7-6551-E471-40296B2BD4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8C3D25CA-E722-9CF7-472D-046F18F48F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Wizualny test normalności czasu trwania cykli kroku oraz wykroku</a:t>
            </a:r>
          </a:p>
        </p:txBody>
      </p:sp>
      <p:pic>
        <p:nvPicPr>
          <p:cNvPr id="6" name="Symbol zastępczy zawartości 5" descr="Obraz zawierający tekst, diagram, Wykres&#10;&#10;Zawartość wygenerowana przez sztuczną inteligencję może być niepoprawna.">
            <a:extLst>
              <a:ext uri="{FF2B5EF4-FFF2-40B4-BE49-F238E27FC236}">
                <a16:creationId xmlns:a16="http://schemas.microsoft.com/office/drawing/2014/main" id="{61CAFCC1-F770-91D1-1652-82170E3B3FA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8144" y="1825625"/>
            <a:ext cx="7735711" cy="4351338"/>
          </a:xfrm>
        </p:spPr>
      </p:pic>
    </p:spTree>
    <p:extLst>
      <p:ext uri="{BB962C8B-B14F-4D97-AF65-F5344CB8AC3E}">
        <p14:creationId xmlns:p14="http://schemas.microsoft.com/office/powerpoint/2010/main" val="3667007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C84740-1485-81EE-8EB0-40F08FB278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CD34368-E095-7EBD-E792-90DDF3A2C0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Histogramy czasu trwania faz podparcia oraz przeniesienia [s]</a:t>
            </a:r>
          </a:p>
        </p:txBody>
      </p:sp>
      <p:pic>
        <p:nvPicPr>
          <p:cNvPr id="11" name="Symbol zastępczy zawartości 10" descr="Obraz zawierający tekst, diagram, Wykres, linia&#10;&#10;Zawartość wygenerowana przez sztuczną inteligencję może być niepoprawna.">
            <a:extLst>
              <a:ext uri="{FF2B5EF4-FFF2-40B4-BE49-F238E27FC236}">
                <a16:creationId xmlns:a16="http://schemas.microsoft.com/office/drawing/2014/main" id="{DB87F5D3-EB8C-945B-CF45-BAF6B5FEB09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8144" y="1825625"/>
            <a:ext cx="7735711" cy="4351338"/>
          </a:xfrm>
        </p:spPr>
      </p:pic>
    </p:spTree>
    <p:extLst>
      <p:ext uri="{BB962C8B-B14F-4D97-AF65-F5344CB8AC3E}">
        <p14:creationId xmlns:p14="http://schemas.microsoft.com/office/powerpoint/2010/main" val="377745141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BBD099-EA31-268B-18B5-D6B42854ED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AC6AF894-2A42-A592-F15F-7240E21796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Wizualny test normalności czasu trwania faz podparcia oraz przeniesienia </a:t>
            </a:r>
          </a:p>
        </p:txBody>
      </p:sp>
      <p:pic>
        <p:nvPicPr>
          <p:cNvPr id="7" name="Symbol zastępczy zawartości 6" descr="Obraz zawierający tekst, diagram, Wykres&#10;&#10;Zawartość wygenerowana przez sztuczną inteligencję może być niepoprawna.">
            <a:extLst>
              <a:ext uri="{FF2B5EF4-FFF2-40B4-BE49-F238E27FC236}">
                <a16:creationId xmlns:a16="http://schemas.microsoft.com/office/drawing/2014/main" id="{C6891BA4-50C0-EF74-A82C-593450C195C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8144" y="1825625"/>
            <a:ext cx="7735711" cy="4351338"/>
          </a:xfrm>
        </p:spPr>
      </p:pic>
    </p:spTree>
    <p:extLst>
      <p:ext uri="{BB962C8B-B14F-4D97-AF65-F5344CB8AC3E}">
        <p14:creationId xmlns:p14="http://schemas.microsoft.com/office/powerpoint/2010/main" val="387303399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55D1D8-2AFD-DB7D-85DB-C5430EDF00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DE39B34-7C32-0F3E-C60E-6D9E957953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Histogramy czasu trwania fazy pojedynczego oraz podwójnego podparcia [s]</a:t>
            </a:r>
          </a:p>
        </p:txBody>
      </p:sp>
      <p:pic>
        <p:nvPicPr>
          <p:cNvPr id="7" name="Symbol zastępczy zawartości 6" descr="Obraz zawierający diagram, Wykres, tekst&#10;&#10;Zawartość wygenerowana przez sztuczną inteligencję może być niepoprawna.">
            <a:extLst>
              <a:ext uri="{FF2B5EF4-FFF2-40B4-BE49-F238E27FC236}">
                <a16:creationId xmlns:a16="http://schemas.microsoft.com/office/drawing/2014/main" id="{29E4B84B-70C0-33A9-A6C4-472E810F28B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8144" y="1825625"/>
            <a:ext cx="7735711" cy="4351338"/>
          </a:xfrm>
        </p:spPr>
      </p:pic>
    </p:spTree>
    <p:extLst>
      <p:ext uri="{BB962C8B-B14F-4D97-AF65-F5344CB8AC3E}">
        <p14:creationId xmlns:p14="http://schemas.microsoft.com/office/powerpoint/2010/main" val="328415172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37615E-C73F-2B84-E454-774671A4B8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E3DBD04-EDAD-118D-AB3D-8BFEDDE763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Wizualny test normalności czasu trwania fazy pojedynczego oraz podwójnego podparcia</a:t>
            </a:r>
          </a:p>
        </p:txBody>
      </p:sp>
      <p:pic>
        <p:nvPicPr>
          <p:cNvPr id="6" name="Symbol zastępczy zawartości 5" descr="Obraz zawierający diagram, Wykres&#10;&#10;Zawartość wygenerowana przez sztuczną inteligencję może być niepoprawna.">
            <a:extLst>
              <a:ext uri="{FF2B5EF4-FFF2-40B4-BE49-F238E27FC236}">
                <a16:creationId xmlns:a16="http://schemas.microsoft.com/office/drawing/2014/main" id="{A3734102-4952-D7FC-1CBC-921B7F682DE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8144" y="1825625"/>
            <a:ext cx="7735711" cy="4351338"/>
          </a:xfrm>
        </p:spPr>
      </p:pic>
    </p:spTree>
    <p:extLst>
      <p:ext uri="{BB962C8B-B14F-4D97-AF65-F5344CB8AC3E}">
        <p14:creationId xmlns:p14="http://schemas.microsoft.com/office/powerpoint/2010/main" val="131146270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119665-07BB-4742-6B83-BD3B3B83D8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AF27F678-C5BD-0574-230D-492A2088FC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Histogramy tempa kroku [1/min]</a:t>
            </a:r>
          </a:p>
        </p:txBody>
      </p:sp>
      <p:pic>
        <p:nvPicPr>
          <p:cNvPr id="7" name="Symbol zastępczy zawartości 6" descr="Obraz zawierający tekst, diagram, Wykres, linia&#10;&#10;Zawartość wygenerowana przez sztuczną inteligencję może być niepoprawna.">
            <a:extLst>
              <a:ext uri="{FF2B5EF4-FFF2-40B4-BE49-F238E27FC236}">
                <a16:creationId xmlns:a16="http://schemas.microsoft.com/office/drawing/2014/main" id="{8EBD1459-4E9F-77AE-BA1B-0959BAD7DF0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8144" y="1825625"/>
            <a:ext cx="7735711" cy="4351338"/>
          </a:xfrm>
        </p:spPr>
      </p:pic>
    </p:spTree>
    <p:extLst>
      <p:ext uri="{BB962C8B-B14F-4D97-AF65-F5344CB8AC3E}">
        <p14:creationId xmlns:p14="http://schemas.microsoft.com/office/powerpoint/2010/main" val="39352962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E064E7-B356-AFF9-74A3-316129785D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0F30CFC-1215-C21B-9663-DDA4B0D718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Wizualny test normalności tempa kroku</a:t>
            </a:r>
          </a:p>
        </p:txBody>
      </p:sp>
      <p:pic>
        <p:nvPicPr>
          <p:cNvPr id="6" name="Symbol zastępczy zawartości 5" descr="Obraz zawierający tekst, diagram, Wykres&#10;&#10;Zawartość wygenerowana przez sztuczną inteligencję może być niepoprawna.">
            <a:extLst>
              <a:ext uri="{FF2B5EF4-FFF2-40B4-BE49-F238E27FC236}">
                <a16:creationId xmlns:a16="http://schemas.microsoft.com/office/drawing/2014/main" id="{E02FAC1F-0784-2D1A-7414-CE410EE573C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8144" y="1825625"/>
            <a:ext cx="7735711" cy="4351338"/>
          </a:xfrm>
        </p:spPr>
      </p:pic>
    </p:spTree>
    <p:extLst>
      <p:ext uri="{BB962C8B-B14F-4D97-AF65-F5344CB8AC3E}">
        <p14:creationId xmlns:p14="http://schemas.microsoft.com/office/powerpoint/2010/main" val="292407152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9C63C87-CB72-FC5F-DEC4-C55492A8DC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Test homogeniczności wariancji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0CA1A50D-ED88-B55D-7F60-0EF2EC24C5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pl-PL"/>
              <a:t>Warunek: tylko dla prób niezależnych</a:t>
            </a:r>
          </a:p>
          <a:p>
            <a:r>
              <a:rPr lang="pl-PL"/>
              <a:t>Nasze próby takie są, ergo zastosujemy test </a:t>
            </a:r>
            <a:r>
              <a:rPr lang="pl-PL" err="1"/>
              <a:t>Levene'a</a:t>
            </a:r>
            <a:r>
              <a:rPr lang="pl-PL"/>
              <a:t> [3]</a:t>
            </a:r>
          </a:p>
          <a:p>
            <a:r>
              <a:rPr lang="pl-PL"/>
              <a:t>Jego zadaniem jest oszacowanie, czy wariancja w zbiorze danych jest równa w zakresie analizowanych grup</a:t>
            </a:r>
          </a:p>
          <a:p>
            <a:r>
              <a:rPr lang="pl-PL"/>
              <a:t>Hipoteza zerowa – wariancje są równe</a:t>
            </a:r>
          </a:p>
          <a:p>
            <a:r>
              <a:rPr lang="pl-PL"/>
              <a:t>Dla p &lt; 0.05 należy odrzucić hipotezę zerową, wariancje heterogeniczne, niejednorodne</a:t>
            </a:r>
          </a:p>
          <a:p>
            <a:r>
              <a:rPr lang="pl-PL"/>
              <a:t>Dla p &gt; 0.05 - brak podstaw do odrzucenia, wariancje homogeniczne</a:t>
            </a:r>
          </a:p>
        </p:txBody>
      </p:sp>
    </p:spTree>
    <p:extLst>
      <p:ext uri="{BB962C8B-B14F-4D97-AF65-F5344CB8AC3E}">
        <p14:creationId xmlns:p14="http://schemas.microsoft.com/office/powerpoint/2010/main" val="333598387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B81ABF73-44D6-6D7B-5FD4-C9E6848050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Jaki test istotności wybrać?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5744DDDE-7D27-2F06-B69A-01A4BEFBD9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pl-PL"/>
              <a:t>Dla naszych danych (po wykonaniu testu </a:t>
            </a:r>
            <a:r>
              <a:rPr lang="pl-PL" err="1"/>
              <a:t>Levene'a</a:t>
            </a:r>
            <a:r>
              <a:rPr lang="pl-PL"/>
              <a:t>):</a:t>
            </a:r>
          </a:p>
          <a:p>
            <a:endParaRPr lang="pl-PL"/>
          </a:p>
          <a:p>
            <a:pPr marL="0" indent="0">
              <a:buNone/>
            </a:pPr>
            <a:endParaRPr lang="pl-PL"/>
          </a:p>
          <a:p>
            <a:pPr marL="0" indent="0">
              <a:buNone/>
            </a:pPr>
            <a:endParaRPr lang="pl-PL"/>
          </a:p>
          <a:p>
            <a:pPr marL="0" indent="0">
              <a:buNone/>
            </a:pPr>
            <a:endParaRPr lang="pl-PL"/>
          </a:p>
          <a:p>
            <a:pPr marL="0" indent="0">
              <a:buNone/>
            </a:pPr>
            <a:endParaRPr lang="pl-PL"/>
          </a:p>
          <a:p>
            <a:pPr marL="0" indent="0">
              <a:buNone/>
            </a:pPr>
            <a:r>
              <a:rPr lang="pl-PL" sz="1800"/>
              <a:t>*dla rozkładu, który nie jest normalny nie ma sensu sprawdzanie równości wariancji, przechodzimy od razu do testu nieparametrycznego</a:t>
            </a:r>
          </a:p>
          <a:p>
            <a:endParaRPr lang="pl-PL"/>
          </a:p>
        </p:txBody>
      </p:sp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64D55886-2813-25E4-8EF6-A842CDBD77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6100276"/>
              </p:ext>
            </p:extLst>
          </p:nvPr>
        </p:nvGraphicFramePr>
        <p:xfrm>
          <a:off x="2011680" y="2487986"/>
          <a:ext cx="8168640" cy="22910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42160">
                  <a:extLst>
                    <a:ext uri="{9D8B030D-6E8A-4147-A177-3AD203B41FA5}">
                      <a16:colId xmlns:a16="http://schemas.microsoft.com/office/drawing/2014/main" val="829729780"/>
                    </a:ext>
                  </a:extLst>
                </a:gridCol>
                <a:gridCol w="2042160">
                  <a:extLst>
                    <a:ext uri="{9D8B030D-6E8A-4147-A177-3AD203B41FA5}">
                      <a16:colId xmlns:a16="http://schemas.microsoft.com/office/drawing/2014/main" val="3506552347"/>
                    </a:ext>
                  </a:extLst>
                </a:gridCol>
                <a:gridCol w="2042160">
                  <a:extLst>
                    <a:ext uri="{9D8B030D-6E8A-4147-A177-3AD203B41FA5}">
                      <a16:colId xmlns:a16="http://schemas.microsoft.com/office/drawing/2014/main" val="3860757797"/>
                    </a:ext>
                  </a:extLst>
                </a:gridCol>
                <a:gridCol w="2042160">
                  <a:extLst>
                    <a:ext uri="{9D8B030D-6E8A-4147-A177-3AD203B41FA5}">
                      <a16:colId xmlns:a16="http://schemas.microsoft.com/office/drawing/2014/main" val="38100540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l-PL"/>
                        <a:t>Rodzaj prób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l-PL"/>
                        <a:t>Rozkład normalny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l-PL"/>
                        <a:t>Wariancje homogeniczne?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l-PL"/>
                        <a:t>Test istotności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77283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l-PL"/>
                        <a:t>niezależne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l-PL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l-PL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l-PL" sz="1800" b="0" i="0" u="none" strike="noStrike" noProof="0">
                          <a:latin typeface="Aptos"/>
                        </a:rPr>
                        <a:t>t-test dla prób niezależnych</a:t>
                      </a:r>
                      <a:endParaRPr lang="pl-P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7648250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l-PL"/>
                        <a:t>niezależne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l-PL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l-PL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l-PL" sz="1800" b="0" i="0" u="none" strike="noStrike" noProof="0">
                          <a:latin typeface="Aptos"/>
                        </a:rPr>
                        <a:t>t-test Welch’a</a:t>
                      </a:r>
                      <a:endParaRPr lang="pl-PL" err="1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24881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l-PL"/>
                        <a:t>niezależne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l-PL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l-PL"/>
                        <a:t>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l-PL" sz="1800" b="0" i="0" u="none" strike="noStrike" noProof="0">
                          <a:latin typeface="Aptos"/>
                        </a:rPr>
                        <a:t>test U Manna-Whitneya</a:t>
                      </a:r>
                      <a:endParaRPr lang="pl-PL" err="1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41721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4842648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9E405F59-B6B6-6EC9-EF6C-9E3B541519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Literatura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CC2EEBD2-CA8B-8B61-C2F5-0CD1F0E7FF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pl-PL" dirty="0"/>
              <a:t>Rys. 1 - </a:t>
            </a:r>
            <a:r>
              <a:rPr lang="pl-PL" dirty="0">
                <a:ea typeface="+mn-lt"/>
                <a:cs typeface="+mn-lt"/>
                <a:hlinkClick r:id="rId2"/>
              </a:rPr>
              <a:t>https://mozgaktywacja.pl/trening-mozgu/</a:t>
            </a:r>
            <a:endParaRPr lang="pl-PL" dirty="0">
              <a:ea typeface="+mn-lt"/>
              <a:cs typeface="+mn-lt"/>
            </a:endParaRPr>
          </a:p>
          <a:p>
            <a:r>
              <a:rPr lang="pl-PL" dirty="0">
                <a:ea typeface="+mn-lt"/>
                <a:cs typeface="+mn-lt"/>
              </a:rPr>
              <a:t>[2] - </a:t>
            </a:r>
            <a:r>
              <a:rPr lang="pl-PL" dirty="0">
                <a:ea typeface="+mn-lt"/>
                <a:cs typeface="+mn-lt"/>
                <a:hlinkClick r:id="rId3"/>
              </a:rPr>
              <a:t>https://pogotowiestatystyczne.pl/slowniki/test-shapiro-wilka/</a:t>
            </a:r>
          </a:p>
          <a:p>
            <a:pPr marL="0" indent="0">
              <a:buNone/>
            </a:pPr>
            <a:r>
              <a:rPr lang="pl-PL" dirty="0">
                <a:hlinkClick r:id="rId4"/>
              </a:rPr>
              <a:t>https://pogotowiestatystyczne.pl/slowniki/test-kolmogorowa-smirnowa/</a:t>
            </a:r>
            <a:endParaRPr lang="pl-PL" dirty="0"/>
          </a:p>
          <a:p>
            <a:r>
              <a:rPr lang="pl-PL" dirty="0"/>
              <a:t>[3] - </a:t>
            </a:r>
            <a:r>
              <a:rPr lang="pl-PL" dirty="0">
                <a:ea typeface="+mn-lt"/>
                <a:cs typeface="+mn-lt"/>
                <a:hlinkClick r:id="rId5"/>
              </a:rPr>
              <a:t>https://pogotowiestatystyczne.pl/slowniki/test-levenea/</a:t>
            </a:r>
            <a:endParaRPr lang="pl-PL" dirty="0"/>
          </a:p>
          <a:p>
            <a:endParaRPr lang="pl-PL" dirty="0"/>
          </a:p>
          <a:p>
            <a:pPr marL="0" indent="0">
              <a:buNone/>
            </a:pPr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935692678"/>
      </p:ext>
    </p:extLst>
  </p:cSld>
  <p:clrMapOvr>
    <a:masterClrMapping/>
  </p:clrMapOvr>
</p:sld>
</file>

<file path=ppt/theme/theme1.xml><?xml version="1.0" encoding="utf-8"?>
<a:theme xmlns:a="http://schemas.openxmlformats.org/drawingml/2006/main" name="Motyw pakietu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akiet Offic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462</TotalTime>
  <Words>579</Words>
  <Application>Microsoft Office PowerPoint</Application>
  <PresentationFormat>Panoramiczny</PresentationFormat>
  <Paragraphs>85</Paragraphs>
  <Slides>25</Slides>
  <Notes>0</Notes>
  <HiddenSlides>0</HiddenSlides>
  <MMClips>0</MMClips>
  <ScaleCrop>false</ScaleCrop>
  <HeadingPairs>
    <vt:vector size="6" baseType="variant">
      <vt:variant>
        <vt:lpstr>Używane czcionki</vt:lpstr>
      </vt:variant>
      <vt:variant>
        <vt:i4>4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25</vt:i4>
      </vt:variant>
    </vt:vector>
  </HeadingPairs>
  <TitlesOfParts>
    <vt:vector size="30" baseType="lpstr">
      <vt:lpstr>Aptos</vt:lpstr>
      <vt:lpstr>Aptos Display</vt:lpstr>
      <vt:lpstr>Arial</vt:lpstr>
      <vt:lpstr>Courier New</vt:lpstr>
      <vt:lpstr>Motyw pakietu Office</vt:lpstr>
      <vt:lpstr>ZAJĘCIA PROJEKTOWE  Z METOD STATYSTYCZNYCH</vt:lpstr>
      <vt:lpstr>Agenda</vt:lpstr>
      <vt:lpstr>Temat naszego projektu</vt:lpstr>
      <vt:lpstr>Przygotowanie danych do agregacji</vt:lpstr>
      <vt:lpstr>Agregacja danych – średnie wartości parametrów w zależności od rodzaju testu</vt:lpstr>
      <vt:lpstr>Agregacja danych – odchylenia stand. od wartości średniej parametrów w zależności od rodzaju testu</vt:lpstr>
      <vt:lpstr>Eksploracja danych przy pomocy box-plotów</vt:lpstr>
      <vt:lpstr>Box-ploty czasu trwania cykli kroku oraz wykroku </vt:lpstr>
      <vt:lpstr>Box-ploty czasu trwania faz podparcia oraz przeniesienia</vt:lpstr>
      <vt:lpstr>Box-ploty czasu trwania fazy pojedynczego oraz podwójnego podparcia </vt:lpstr>
      <vt:lpstr>Box-ploty tempa kroku</vt:lpstr>
      <vt:lpstr>Czy próby są zależne?</vt:lpstr>
      <vt:lpstr>Test normalności - Shapiro-Wilka [2]</vt:lpstr>
      <vt:lpstr>Wizualny test normalności</vt:lpstr>
      <vt:lpstr>Histogramy czasu trwania cykli kroku oraz wykroku [s]</vt:lpstr>
      <vt:lpstr>Wizualny test normalności czasu trwania cykli kroku oraz wykroku</vt:lpstr>
      <vt:lpstr>Histogramy czasu trwania faz podparcia oraz przeniesienia [s]</vt:lpstr>
      <vt:lpstr>Wizualny test normalności czasu trwania faz podparcia oraz przeniesienia </vt:lpstr>
      <vt:lpstr>Histogramy czasu trwania fazy pojedynczego oraz podwójnego podparcia [s]</vt:lpstr>
      <vt:lpstr>Wizualny test normalności czasu trwania fazy pojedynczego oraz podwójnego podparcia</vt:lpstr>
      <vt:lpstr>Histogramy tempa kroku [1/min]</vt:lpstr>
      <vt:lpstr>Wizualny test normalności tempa kroku</vt:lpstr>
      <vt:lpstr>Test homogeniczności wariancji</vt:lpstr>
      <vt:lpstr>Jaki test istotności wybrać?</vt:lpstr>
      <vt:lpstr>Literatura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Igor Kotlarz</dc:creator>
  <cp:lastModifiedBy>Igor Kotlarz (ik311936)</cp:lastModifiedBy>
  <cp:revision>86</cp:revision>
  <dcterms:created xsi:type="dcterms:W3CDTF">2025-04-14T10:35:24Z</dcterms:created>
  <dcterms:modified xsi:type="dcterms:W3CDTF">2025-04-14T19:33:45Z</dcterms:modified>
</cp:coreProperties>
</file>